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slides/slide1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88825"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5C68D08A-305F-4B09-98FA-686DC116C8DC}"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sldImg"/>
          </p:nvPr>
        </p:nvSpPr>
        <p:spPr>
          <a:xfrm>
            <a:off x="1143000" y="685800"/>
            <a:ext cx="4571640" cy="3428640"/>
          </a:xfrm>
          <a:prstGeom prst="rect">
            <a:avLst/>
          </a:prstGeom>
          <a:ln w="0">
            <a:noFill/>
          </a:ln>
        </p:spPr>
      </p:sp>
      <p:sp>
        <p:nvSpPr>
          <p:cNvPr id="15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1200" b="0" u="none" strike="noStrike">
                <a:solidFill>
                  <a:srgbClr val="000000"/>
                </a:solidFill>
                <a:effectLst/>
                <a:uFillTx/>
                <a:latin typeface="Calibri"/>
              </a:rPr>
              <a:t>Welcome everyone. Today I am going to demonstrate one of the most powerful active learning strategies we have covered in this course — the Case Study method. My goal is not just to tell you about it, but to actually walk you through how it works, step by step, so that by the end of this session you will be able to design and facilitate a case study activity in your own training context. I will also present a real business case — the collapse of Toys R Us — and we will apply a structured analysis framework to it together. Let's get started.</a:t>
            </a:r>
            <a:endParaRPr lang="en-US" sz="1200" b="0" u="none" strike="noStrike">
              <a:solidFill>
                <a:srgbClr val="000000"/>
              </a:solidFill>
              <a:effectLst/>
              <a:uFillTx/>
              <a:latin typeface="Arial"/>
            </a:endParaRPr>
          </a:p>
        </p:txBody>
      </p:sp>
      <p:sp>
        <p:nvSpPr>
          <p:cNvPr id="158"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AF12530-6190-435E-9C3B-AC41F0C62FC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sldImg"/>
          </p:nvPr>
        </p:nvSpPr>
        <p:spPr>
          <a:xfrm>
            <a:off x="1143000" y="685800"/>
            <a:ext cx="4571640" cy="3428640"/>
          </a:xfrm>
          <a:prstGeom prst="rect">
            <a:avLst/>
          </a:prstGeom>
          <a:ln w="0">
            <a:noFill/>
          </a:ln>
        </p:spPr>
      </p:sp>
      <p:sp>
        <p:nvSpPr>
          <p:cNvPr id="16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1200" b="0" u="none" strike="noStrike">
                <a:solidFill>
                  <a:srgbClr val="000000"/>
                </a:solidFill>
                <a:effectLst/>
                <a:uFillTx/>
                <a:latin typeface="Calibri"/>
              </a:rPr>
              <a:t>A case study is essentially a story with a problem at its heart. It presents learners with a real or realistic situation and asks them to think critically about what happened, why it happened, and what should be done about it. What makes case studies so powerful is that they don't have one right answer — they require learners to weigh evidence, consider multiple perspectives, and justify their decisions. In a CBET context, this is especially valuable because competency is about applying knowledge in real situations, not just recalling facts. Case studies create that bridge between the classroom and the workplace.</a:t>
            </a:r>
            <a:endParaRPr lang="en-US" sz="1200" b="0" u="none" strike="noStrike">
              <a:solidFill>
                <a:srgbClr val="000000"/>
              </a:solidFill>
              <a:effectLst/>
              <a:uFillTx/>
              <a:latin typeface="Arial"/>
            </a:endParaRPr>
          </a:p>
        </p:txBody>
      </p:sp>
      <p:sp>
        <p:nvSpPr>
          <p:cNvPr id="161"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611E428-A965-4143-8994-EA046D7180F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sldImg"/>
          </p:nvPr>
        </p:nvSpPr>
        <p:spPr>
          <a:xfrm>
            <a:off x="1143000" y="685800"/>
            <a:ext cx="4571640" cy="3428640"/>
          </a:xfrm>
          <a:prstGeom prst="rect">
            <a:avLst/>
          </a:prstGeom>
          <a:ln w="0">
            <a:noFill/>
          </a:ln>
        </p:spPr>
      </p:sp>
      <p:sp>
        <p:nvSpPr>
          <p:cNvPr id="16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1200" b="0" u="none" strike="noStrike">
                <a:solidFill>
                  <a:srgbClr val="000000"/>
                </a:solidFill>
                <a:effectLst/>
                <a:uFillTx/>
                <a:latin typeface="Calibri"/>
              </a:rPr>
              <a:t>There are many active learning strategies available to us as trainers, so why choose case studies? The answer is that case studies do something most other strategies cannot — they force learners to think like practitioners. When a learner reads about inflation in a textbook, it is abstract. But when they read about a real company that collapsed because it failed to respond to market forces, suddenly those concepts become vivid and memorable. Case studies also develop skills that employers actually want: the ability to analyze a situation, weigh options, and make a reasoned recommendation. These are the skills that define competence in any field.</a:t>
            </a:r>
            <a:endParaRPr lang="en-US" sz="1200" b="0" u="none" strike="noStrike">
              <a:solidFill>
                <a:srgbClr val="000000"/>
              </a:solidFill>
              <a:effectLst/>
              <a:uFillTx/>
              <a:latin typeface="Arial"/>
            </a:endParaRPr>
          </a:p>
        </p:txBody>
      </p:sp>
      <p:sp>
        <p:nvSpPr>
          <p:cNvPr id="164"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18349A3-7AAD-4794-A89E-102ED9B7FCA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sldImg"/>
          </p:nvPr>
        </p:nvSpPr>
        <p:spPr>
          <a:xfrm>
            <a:off x="1143000" y="685800"/>
            <a:ext cx="4571640" cy="3428640"/>
          </a:xfrm>
          <a:prstGeom prst="rect">
            <a:avLst/>
          </a:prstGeom>
          <a:ln w="0">
            <a:noFill/>
          </a:ln>
        </p:spPr>
      </p:sp>
      <p:sp>
        <p:nvSpPr>
          <p:cNvPr id="16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1200" b="0" u="none" strike="noStrike">
                <a:solidFill>
                  <a:srgbClr val="000000"/>
                </a:solidFill>
                <a:effectLst/>
                <a:uFillTx/>
                <a:latin typeface="Calibri"/>
              </a:rPr>
              <a:t>The first step is selecting and presenting the case. The case you choose should be directly relevant to the concepts you want learners to apply. For example, if you are teaching about market competition, you might use a news article about a company that lost market share to a competitor. If you are teaching about fiscal policy, you might use a government budget speech or an IMF country report. The case should be rich enough to generate discussion — it should have a clear problem, identifiable stakeholders, and more than one possible solution. You can also give learners the freedom to find their own case, which increases ownership and relevance, especially for adult learners who bring workplace experience.</a:t>
            </a:r>
            <a:endParaRPr lang="en-US" sz="1200" b="0" u="none" strike="noStrike">
              <a:solidFill>
                <a:srgbClr val="000000"/>
              </a:solidFill>
              <a:effectLst/>
              <a:uFillTx/>
              <a:latin typeface="Arial"/>
            </a:endParaRPr>
          </a:p>
        </p:txBody>
      </p:sp>
      <p:sp>
        <p:nvSpPr>
          <p:cNvPr id="167"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7F22A0D-8ACF-4535-AA02-FA21E8599FE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sldImg"/>
          </p:nvPr>
        </p:nvSpPr>
        <p:spPr>
          <a:xfrm>
            <a:off x="1143000" y="685800"/>
            <a:ext cx="4571640" cy="3428640"/>
          </a:xfrm>
          <a:prstGeom prst="rect">
            <a:avLst/>
          </a:prstGeom>
          <a:ln w="0">
            <a:noFill/>
          </a:ln>
        </p:spPr>
      </p:sp>
      <p:sp>
        <p:nvSpPr>
          <p:cNvPr id="16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1200" b="0" u="none" strike="noStrike">
                <a:solidFill>
                  <a:srgbClr val="000000"/>
                </a:solidFill>
                <a:effectLst/>
                <a:uFillTx/>
                <a:latin typeface="Calibri"/>
              </a:rPr>
              <a:t>Once learners have the case, they need a framework to guide their analysis. Without structure, learners often get lost in the details of the story and miss the analytical task. The framework acts like a scaffold — it tells learners exactly what to look for and how to organize their thinking. I recommend working in small groups of three to five, because this generates richer discussion than individual work while keeping the group small enough for everyone to contribute. Be very clear about what you expect at the end — will groups present verbally, submit a written analysis, or both? Clear expectations reduce anxiety and keep learners focused on the task.</a:t>
            </a:r>
            <a:endParaRPr lang="en-US" sz="1200" b="0" u="none" strike="noStrike">
              <a:solidFill>
                <a:srgbClr val="000000"/>
              </a:solidFill>
              <a:effectLst/>
              <a:uFillTx/>
              <a:latin typeface="Arial"/>
            </a:endParaRPr>
          </a:p>
        </p:txBody>
      </p:sp>
      <p:sp>
        <p:nvSpPr>
          <p:cNvPr id="170"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0AB7A66-58BA-4C5D-BADF-6EC8DAE9466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sldImg"/>
          </p:nvPr>
        </p:nvSpPr>
        <p:spPr>
          <a:xfrm>
            <a:off x="1143000" y="685800"/>
            <a:ext cx="4571640" cy="3428640"/>
          </a:xfrm>
          <a:prstGeom prst="rect">
            <a:avLst/>
          </a:prstGeom>
          <a:ln w="0">
            <a:noFill/>
          </a:ln>
        </p:spPr>
      </p:sp>
      <p:sp>
        <p:nvSpPr>
          <p:cNvPr id="17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1200" b="0" u="none" strike="noStrike">
                <a:solidFill>
                  <a:srgbClr val="000000"/>
                </a:solidFill>
                <a:effectLst/>
                <a:uFillTx/>
                <a:latin typeface="Calibri"/>
              </a:rPr>
              <a:t>The presentation phase is where the real learning happens. When learners have to explain their analysis to peers, they are forced to organize their thinking and defend their conclusions. As the facilitator, your job here is not to lecture — it is to ask probing questions that deepen the discussion. For example: 'Group A recommended cutting costs — Group B recommended investing in technology. Which approach do you think addresses the root cause of the problem?' Try to get learners responding to each other rather than always directing their answers to you. This creates a genuine learning community where ideas are tested and refined through dialogue. If time is limited, written submissions are a valid alternative, but the live discussion is far richer.</a:t>
            </a:r>
            <a:endParaRPr lang="en-US" sz="1200" b="0" u="none" strike="noStrike">
              <a:solidFill>
                <a:srgbClr val="000000"/>
              </a:solidFill>
              <a:effectLst/>
              <a:uFillTx/>
              <a:latin typeface="Arial"/>
            </a:endParaRPr>
          </a:p>
        </p:txBody>
      </p:sp>
      <p:sp>
        <p:nvSpPr>
          <p:cNvPr id="173"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D760EE9-C44E-42A9-93BA-C12BF6FB7BF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sldImg"/>
          </p:nvPr>
        </p:nvSpPr>
        <p:spPr>
          <a:xfrm>
            <a:off x="1143000" y="685800"/>
            <a:ext cx="4571640" cy="3428640"/>
          </a:xfrm>
          <a:prstGeom prst="rect">
            <a:avLst/>
          </a:prstGeom>
          <a:ln w="0">
            <a:noFill/>
          </a:ln>
        </p:spPr>
      </p:sp>
      <p:sp>
        <p:nvSpPr>
          <p:cNvPr id="17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1200" b="0" u="none" strike="noStrike">
                <a:solidFill>
                  <a:srgbClr val="000000"/>
                </a:solidFill>
                <a:effectLst/>
                <a:uFillTx/>
                <a:latin typeface="Calibri"/>
              </a:rPr>
              <a:t>This final step is the most important and the most commonly skipped. It is not enough for learners to analyze the case — they must explicitly connect their analysis back to the theoretical concepts you have been teaching. This is what transforms a good story into a learning experience. You might ask: 'We just analyzed why Toys R Us failed — which economic concept does this illustrate?' Learners might respond with 'competitive advantage,' 'market disruption,' or 'price elasticity.' Your job is to confirm, extend, and deepen those connections. This step also gives you the opportunity to correct any misconceptions that surfaced during the analysis before they become entrenched.</a:t>
            </a:r>
            <a:endParaRPr lang="en-US" sz="1200" b="0" u="none" strike="noStrike">
              <a:solidFill>
                <a:srgbClr val="000000"/>
              </a:solidFill>
              <a:effectLst/>
              <a:uFillTx/>
              <a:latin typeface="Arial"/>
            </a:endParaRPr>
          </a:p>
        </p:txBody>
      </p:sp>
      <p:sp>
        <p:nvSpPr>
          <p:cNvPr id="176"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E2E7A0B-0CFC-4D95-B478-BBF7875F604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sldImg"/>
          </p:nvPr>
        </p:nvSpPr>
        <p:spPr>
          <a:xfrm>
            <a:off x="1143000" y="685800"/>
            <a:ext cx="4571640" cy="3428640"/>
          </a:xfrm>
          <a:prstGeom prst="rect">
            <a:avLst/>
          </a:prstGeom>
          <a:ln w="0">
            <a:noFill/>
          </a:ln>
        </p:spPr>
      </p:sp>
      <p:sp>
        <p:nvSpPr>
          <p:cNvPr id="17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1200" b="0" u="none" strike="noStrike">
                <a:solidFill>
                  <a:srgbClr val="000000"/>
                </a:solidFill>
                <a:effectLst/>
                <a:uFillTx/>
                <a:latin typeface="Calibri"/>
              </a:rPr>
              <a:t>This is the framework I recommend giving to learners before they begin their analysis. Each section has a specific purpose. The Situation section ensures learners understand the context before jumping to solutions. The Problem section forces them to identify the root issue rather than just describing symptoms. The Stakeholders section builds empathy and multi-perspective thinking. The Options section — with pros and cons — is where critical thinking really happens, because learners must evaluate trade-offs rather than just picking the obvious answer. The Recommendation section requires learners to commit to a position and justify it. And the Theory Link section is the bridge back to the course content. I recommend printing this framework and distributing it with the case.</a:t>
            </a:r>
            <a:endParaRPr lang="en-US" sz="1200" b="0" u="none" strike="noStrike">
              <a:solidFill>
                <a:srgbClr val="000000"/>
              </a:solidFill>
              <a:effectLst/>
              <a:uFillTx/>
              <a:latin typeface="Arial"/>
            </a:endParaRPr>
          </a:p>
        </p:txBody>
      </p:sp>
      <p:sp>
        <p:nvSpPr>
          <p:cNvPr id="179"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E5E6640-1F72-4B68-B948-7B1F0FCBBCD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sldImg"/>
          </p:nvPr>
        </p:nvSpPr>
        <p:spPr>
          <a:xfrm>
            <a:off x="1143000" y="685800"/>
            <a:ext cx="4571640" cy="3428640"/>
          </a:xfrm>
          <a:prstGeom prst="rect">
            <a:avLst/>
          </a:prstGeom>
          <a:ln w="0">
            <a:noFill/>
          </a:ln>
        </p:spPr>
      </p:sp>
      <p:sp>
        <p:nvSpPr>
          <p:cNvPr id="18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1200" b="0" u="none" strike="noStrike">
                <a:solidFill>
                  <a:srgbClr val="000000"/>
                </a:solidFill>
                <a:effectLst/>
                <a:uFillTx/>
                <a:latin typeface="Calibri"/>
              </a:rPr>
              <a:t>Now let me introduce the case we are going to work with. Toys R Us was once a retail giant — a household name that dominated the toy industry for decades. At its peak it had over 1,500 stores worldwide and was the destination for toy shopping. So what went wrong? In 2005, the company was taken private by private equity firms who loaded it with over five billion dollars in debt. This meant that instead of investing profits back into the business — particularly into e-commerce — the company was spending most of its cash servicing debt. Meanwhile, Amazon and Walmart were aggressively expanding their online toy offerings, often at lower prices. By the time Toys R Us tried to respond, it was too late. In 2017 it filed for bankruptcy, and in 2018 it closed all its US stores. This case is rich with economic and business concepts that we can apply directly to our course material.</a:t>
            </a:r>
            <a:endParaRPr lang="en-US" sz="1200" b="0" u="none" strike="noStrike">
              <a:solidFill>
                <a:srgbClr val="000000"/>
              </a:solidFill>
              <a:effectLst/>
              <a:uFillTx/>
              <a:latin typeface="Arial"/>
            </a:endParaRPr>
          </a:p>
        </p:txBody>
      </p:sp>
      <p:sp>
        <p:nvSpPr>
          <p:cNvPr id="182"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3D3386D-468C-4B31-B739-6815EE1163D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sldImg"/>
          </p:nvPr>
        </p:nvSpPr>
        <p:spPr>
          <a:xfrm>
            <a:off x="1143000" y="685800"/>
            <a:ext cx="4571640" cy="3428640"/>
          </a:xfrm>
          <a:prstGeom prst="rect">
            <a:avLst/>
          </a:prstGeom>
          <a:ln w="0">
            <a:noFill/>
          </a:ln>
        </p:spPr>
      </p:sp>
      <p:sp>
        <p:nvSpPr>
          <p:cNvPr id="18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1200" b="0" u="none" strike="noStrike">
                <a:solidFill>
                  <a:srgbClr val="000000"/>
                </a:solidFill>
                <a:effectLst/>
                <a:uFillTx/>
                <a:latin typeface="Calibri"/>
              </a:rPr>
              <a:t>Let's walk through the framework together using the Toys R Us case. The situation is clear: a once-dominant retailer, weakened by debt and slow to adapt to digital retail. The core problem is not just competition — it is that the debt burden prevented the company from making the investments needed to compete. This is an important distinction: the symptom was falling sales, but the root cause was the financial structure imposed by the leveraged buyout. The stakeholders are wide-ranging — from the 33,000 employees who lost their jobs, to suppliers who were owed money, to the communities where stores closed. For the options, I have identified two broad strategies that learner groups will analyze: aggressive digital transformation, or cost-cutting and store optimization. The recommendation and theory link are left for learners to complete — that is the active learning part.</a:t>
            </a:r>
            <a:endParaRPr lang="en-US" sz="1200" b="0" u="none" strike="noStrike">
              <a:solidFill>
                <a:srgbClr val="000000"/>
              </a:solidFill>
              <a:effectLst/>
              <a:uFillTx/>
              <a:latin typeface="Arial"/>
            </a:endParaRPr>
          </a:p>
        </p:txBody>
      </p:sp>
      <p:sp>
        <p:nvSpPr>
          <p:cNvPr id="185" name="PlaceHolder 3"/>
          <p:cNvSpPr>
            <a:spLocks noGrp="1"/>
          </p:cNvSpPr>
          <p:nvPr>
            <p:ph type="sldNum" idx="4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A1776E4-DCAE-4523-AF52-D6FF8441482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sldImg"/>
          </p:nvPr>
        </p:nvSpPr>
        <p:spPr>
          <a:xfrm>
            <a:off x="1143000" y="685800"/>
            <a:ext cx="4571640" cy="3428640"/>
          </a:xfrm>
          <a:prstGeom prst="rect">
            <a:avLst/>
          </a:prstGeom>
          <a:ln w="0">
            <a:noFill/>
          </a:ln>
        </p:spPr>
      </p:sp>
      <p:sp>
        <p:nvSpPr>
          <p:cNvPr id="18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1200" b="0" u="none" strike="noStrike">
                <a:solidFill>
                  <a:srgbClr val="000000"/>
                </a:solidFill>
                <a:effectLst/>
                <a:uFillTx/>
                <a:latin typeface="Calibri"/>
              </a:rPr>
              <a:t>This is the pros and cons analysis that learner groups would complete using the framework. Option A — digital transformation — is the strategically correct response to the competitive threat. Amazon and Walmart were winning because of their online presence and pricing power. The problem is that digital transformation requires significant capital investment, and Toys R Us simply did not have the cash — it was all going to debt repayment. Option B — cost-cutting — might seem like a responsible financial move, but it is essentially a managed decline. You are making the business smaller and more efficient, but you are not solving the fundamental problem of being uncompetitive in the digital marketplace. This is a great example of a strategic dilemma where both options have serious limitations — which is exactly the kind of complexity that makes case studies so valuable as a learning tool.</a:t>
            </a:r>
            <a:endParaRPr lang="en-US" sz="1200" b="0" u="none" strike="noStrike">
              <a:solidFill>
                <a:srgbClr val="000000"/>
              </a:solidFill>
              <a:effectLst/>
              <a:uFillTx/>
              <a:latin typeface="Arial"/>
            </a:endParaRPr>
          </a:p>
        </p:txBody>
      </p:sp>
      <p:sp>
        <p:nvSpPr>
          <p:cNvPr id="188" name="PlaceHolder 3"/>
          <p:cNvSpPr>
            <a:spLocks noGrp="1"/>
          </p:cNvSpPr>
          <p:nvPr>
            <p:ph type="sldNum" idx="4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99AEF69-2986-4424-BBC3-1D8CE37EEE4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sldImg"/>
          </p:nvPr>
        </p:nvSpPr>
        <p:spPr>
          <a:xfrm>
            <a:off x="1143000" y="685800"/>
            <a:ext cx="4571640" cy="3428640"/>
          </a:xfrm>
          <a:prstGeom prst="rect">
            <a:avLst/>
          </a:prstGeom>
          <a:ln w="0">
            <a:noFill/>
          </a:ln>
        </p:spPr>
      </p:sp>
      <p:sp>
        <p:nvSpPr>
          <p:cNvPr id="19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1200" b="0" u="none" strike="noStrike">
                <a:solidFill>
                  <a:srgbClr val="000000"/>
                </a:solidFill>
                <a:effectLst/>
                <a:uFillTx/>
                <a:latin typeface="Calibri"/>
              </a:rPr>
              <a:t>Now we connect the case back to theory — and this is where the case study earns its place in the curriculum. Porter's Five Forces framework helps us understand why Toys R Us lost: the threat of substitutes (online shopping) and the intensity of rivalry (Amazon, Walmart) were both extremely high, while Toys R Us had no sustainable competitive advantage to defend itself. Schumpeter's concept of creative destruction explains the broader pattern: e-commerce did not just compete with traditional retail — it replaced it. Companies that could not adapt were destroyed. From an economics perspective, the shift in consumer demand toward online shopping is a textbook example of a demand-side shift driven by price, convenience, and availability. And from a financial strategy perspective, the leveraged buyout is a cautionary tale about the risks of loading a company with debt in a rapidly changing competitive environment.</a:t>
            </a:r>
            <a:endParaRPr lang="en-US" sz="1200" b="0" u="none" strike="noStrike">
              <a:solidFill>
                <a:srgbClr val="000000"/>
              </a:solidFill>
              <a:effectLst/>
              <a:uFillTx/>
              <a:latin typeface="Arial"/>
            </a:endParaRPr>
          </a:p>
        </p:txBody>
      </p:sp>
      <p:sp>
        <p:nvSpPr>
          <p:cNvPr id="191" name="PlaceHolder 3"/>
          <p:cNvSpPr>
            <a:spLocks noGrp="1"/>
          </p:cNvSpPr>
          <p:nvPr>
            <p:ph type="sldNum" idx="4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57AF275-DE31-457E-B81C-0BF71A07AC8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sldImg"/>
          </p:nvPr>
        </p:nvSpPr>
        <p:spPr>
          <a:xfrm>
            <a:off x="1143000" y="685800"/>
            <a:ext cx="4571640" cy="3428640"/>
          </a:xfrm>
          <a:prstGeom prst="rect">
            <a:avLst/>
          </a:prstGeom>
          <a:ln w="0">
            <a:noFill/>
          </a:ln>
        </p:spPr>
      </p:sp>
      <p:sp>
        <p:nvSpPr>
          <p:cNvPr id="19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1200" b="0" u="none" strike="noStrike">
                <a:solidFill>
                  <a:srgbClr val="000000"/>
                </a:solidFill>
                <a:effectLst/>
                <a:uFillTx/>
                <a:latin typeface="Calibri"/>
              </a:rPr>
              <a:t>Let me share a few practical tips from experience. First, case selection matters enormously. A case that is too simple will not generate meaningful discussion. You want a case where reasonable people could disagree about the best course of action. Second, never skip the framework. Without structure, learners tend to retell the story rather than analyze it. The framework keeps them focused on the analytical task. Third, be very explicit about time and deliverables at the start — learners work better when they know exactly what is expected and how long they have. During presentations, resist the urge to fill silences with your own explanations. Ask a probing question instead: 'What evidence supports that recommendation?' or 'Has anyone considered the stakeholder impact of that option?' And finally — always, always close with the theory link. That is what makes it a learning activity rather than just an interesting discussion.</a:t>
            </a:r>
            <a:endParaRPr lang="en-US" sz="1200" b="0" u="none" strike="noStrike">
              <a:solidFill>
                <a:srgbClr val="000000"/>
              </a:solidFill>
              <a:effectLst/>
              <a:uFillTx/>
              <a:latin typeface="Arial"/>
            </a:endParaRPr>
          </a:p>
        </p:txBody>
      </p:sp>
      <p:sp>
        <p:nvSpPr>
          <p:cNvPr id="194" name="PlaceHolder 3"/>
          <p:cNvSpPr>
            <a:spLocks noGrp="1"/>
          </p:cNvSpPr>
          <p:nvPr>
            <p:ph type="sldNum" idx="4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F7900CB-FEA6-4B64-9469-4B2603C4066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sldImg"/>
          </p:nvPr>
        </p:nvSpPr>
        <p:spPr>
          <a:xfrm>
            <a:off x="1143000" y="685800"/>
            <a:ext cx="4571640" cy="3428640"/>
          </a:xfrm>
          <a:prstGeom prst="rect">
            <a:avLst/>
          </a:prstGeom>
          <a:ln w="0">
            <a:noFill/>
          </a:ln>
        </p:spPr>
      </p:sp>
      <p:sp>
        <p:nvSpPr>
          <p:cNvPr id="19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1200" b="0" u="none" strike="noStrike">
                <a:solidFill>
                  <a:srgbClr val="000000"/>
                </a:solidFill>
                <a:effectLst/>
                <a:uFillTx/>
                <a:latin typeface="Calibri"/>
              </a:rPr>
              <a:t>Case studies work best during the body of a session — after you have introduced the theoretical concepts that learners will need to apply. If you use a case study too early, before learners have the conceptual tools to analyze it, they will struggle and the activity will feel frustrating rather than engaging. In terms of time, a well-run case study activity typically requires at least 60 minutes for a single-session format: 10 minutes to read and understand the case, 20 minutes for group analysis, 20 minutes for presentations and discussion, and 10 minutes for the theory link and debrief. For more complex cases, you can extend this into a multi-session project where learners research additional information and produce a formal written analysis. Case studies can also be used as a session review activity if the case is designed to consolidate learning across multiple topics covered in the course.</a:t>
            </a:r>
            <a:endParaRPr lang="en-US" sz="1200" b="0" u="none" strike="noStrike">
              <a:solidFill>
                <a:srgbClr val="000000"/>
              </a:solidFill>
              <a:effectLst/>
              <a:uFillTx/>
              <a:latin typeface="Arial"/>
            </a:endParaRPr>
          </a:p>
        </p:txBody>
      </p:sp>
      <p:sp>
        <p:nvSpPr>
          <p:cNvPr id="197" name="PlaceHolder 3"/>
          <p:cNvSpPr>
            <a:spLocks noGrp="1"/>
          </p:cNvSpPr>
          <p:nvPr>
            <p:ph type="sldNum" idx="5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77E6EBA-4FF8-4032-B993-BEE268829D9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sldImg"/>
          </p:nvPr>
        </p:nvSpPr>
        <p:spPr>
          <a:xfrm>
            <a:off x="1143000" y="685800"/>
            <a:ext cx="4571640" cy="3428640"/>
          </a:xfrm>
          <a:prstGeom prst="rect">
            <a:avLst/>
          </a:prstGeom>
          <a:ln w="0">
            <a:noFill/>
          </a:ln>
        </p:spPr>
      </p:sp>
      <p:sp>
        <p:nvSpPr>
          <p:cNvPr id="19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1200" b="0" u="none" strike="noStrike">
                <a:solidFill>
                  <a:srgbClr val="000000"/>
                </a:solidFill>
                <a:effectLst/>
                <a:uFillTx/>
                <a:latin typeface="Calibri"/>
              </a:rPr>
              <a:t>Let me close with the key takeaways from today's demonstration. Case studies are one of the most powerful active learning strategies available to us because they do what no lecture can — they put learners in the position of a decision-maker facing a real problem. The four-step process is straightforward: provide a rich, complex case; give learners a structured framework to guide their analysis; have them present or submit their findings; and always close by explicitly connecting the case back to the theoretical concepts from the course. The Toys R Us case we worked through today is a vivid illustration of competitive forces, creative destruction, and the dangers of poor financial strategy — all concepts that appear across business and economics curricula. I hope this demonstration has given you a clear picture of how to design and facilitate a case study activity in your own training context. Thank you for your attention — I am happy to take questions.</a:t>
            </a:r>
            <a:endParaRPr lang="en-US" sz="1200" b="0" u="none" strike="noStrike">
              <a:solidFill>
                <a:srgbClr val="000000"/>
              </a:solidFill>
              <a:effectLst/>
              <a:uFillTx/>
              <a:latin typeface="Arial"/>
            </a:endParaRPr>
          </a:p>
        </p:txBody>
      </p:sp>
      <p:sp>
        <p:nvSpPr>
          <p:cNvPr id="200" name="PlaceHolder 3"/>
          <p:cNvSpPr>
            <a:spLocks noGrp="1"/>
          </p:cNvSpPr>
          <p:nvPr>
            <p:ph type="sldNum" idx="5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1457AA3-D3CE-41C2-9A70-6B190679760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31D3F19-FEBC-4574-92AA-A0947BD19A5F}"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6704D0F-D90A-43A6-9ACC-A5A22FC681F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A669405-A7F0-4C0C-BD1B-E7BFBC5EA19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95630B3-CF93-494B-9A33-CB085847BC4F}"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D83E4D9-19C0-4188-86F2-4EEBC4BE10E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0784891-8DD3-4420-A3DB-4F2EC33E1CB8}"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DC0C9AC-5C5A-486E-ACD1-AE91CA9F8374}"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8853FD0-70B5-4ABE-B599-1AD22F269E1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B5C615C-62B0-4B68-87D5-825D5CEAA6F8}"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120" y="273600"/>
            <a:ext cx="1096956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120" y="1604520"/>
            <a:ext cx="1096956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2EB80A6-66D5-4550-A210-8FA8FBD4E7DE}"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2A78837-19C6-417F-B16C-841DBACB40E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Rectangle 1"/>
          <p:cNvSpPr/>
          <p:nvPr/>
        </p:nvSpPr>
        <p:spPr>
          <a:xfrm>
            <a:off x="0" y="0"/>
            <a:ext cx="12188520" cy="6857640"/>
          </a:xfrm>
          <a:prstGeom prst="rect">
            <a:avLst/>
          </a:prstGeom>
          <a:solidFill>
            <a:srgbClr val="1A376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8" name="Rectangle 2"/>
          <p:cNvSpPr/>
          <p:nvPr/>
        </p:nvSpPr>
        <p:spPr>
          <a:xfrm>
            <a:off x="0" y="4754880"/>
            <a:ext cx="12188520" cy="72720"/>
          </a:xfrm>
          <a:prstGeom prst="rect">
            <a:avLst/>
          </a:prstGeom>
          <a:solidFill>
            <a:srgbClr val="E86A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p>
            <a:endParaRPr lang="en-US" sz="1800" b="0" u="none" strike="noStrike">
              <a:solidFill>
                <a:schemeClr val="lt1"/>
              </a:solidFill>
              <a:effectLst/>
              <a:uFillTx/>
              <a:latin typeface="Calibri"/>
            </a:endParaRPr>
          </a:p>
        </p:txBody>
      </p:sp>
      <p:sp>
        <p:nvSpPr>
          <p:cNvPr id="69" name="TextBox 3"/>
          <p:cNvSpPr/>
          <p:nvPr/>
        </p:nvSpPr>
        <p:spPr>
          <a:xfrm>
            <a:off x="548640" y="1645920"/>
            <a:ext cx="11063880" cy="14626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600" b="1" u="none" strike="noStrike">
                <a:solidFill>
                  <a:srgbClr val="FFFFFF"/>
                </a:solidFill>
                <a:effectLst/>
                <a:uFillTx/>
                <a:latin typeface="Calibri"/>
              </a:rPr>
              <a:t>Case Studies as an Active Learning Strategy</a:t>
            </a:r>
            <a:endParaRPr lang="en-US" sz="3600" b="0" u="none" strike="noStrike">
              <a:solidFill>
                <a:srgbClr val="000000"/>
              </a:solidFill>
              <a:effectLst/>
              <a:uFillTx/>
              <a:latin typeface="Arial"/>
            </a:endParaRPr>
          </a:p>
        </p:txBody>
      </p:sp>
      <p:sp>
        <p:nvSpPr>
          <p:cNvPr id="70" name="TextBox 4"/>
          <p:cNvSpPr/>
          <p:nvPr/>
        </p:nvSpPr>
        <p:spPr>
          <a:xfrm>
            <a:off x="548640" y="3291840"/>
            <a:ext cx="11063880" cy="3646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800" b="0" u="none" strike="noStrike">
                <a:solidFill>
                  <a:srgbClr val="CCDDFF"/>
                </a:solidFill>
                <a:effectLst/>
                <a:uFillTx/>
                <a:latin typeface="Calibri"/>
              </a:rPr>
              <a:t>CBET Training Methodologies | Presenter: Stephen Ondiek</a:t>
            </a:r>
            <a:endParaRPr lang="en-US" sz="1800" b="0" u="none" strike="noStrike">
              <a:solidFill>
                <a:srgbClr val="000000"/>
              </a:solidFill>
              <a:effectLst/>
              <a:uFillTx/>
              <a:latin typeface="Arial"/>
            </a:endParaRPr>
          </a:p>
        </p:txBody>
      </p:sp>
      <p:sp>
        <p:nvSpPr>
          <p:cNvPr id="71" name="TextBox 5"/>
          <p:cNvSpPr/>
          <p:nvPr/>
        </p:nvSpPr>
        <p:spPr>
          <a:xfrm>
            <a:off x="11430000" y="6492240"/>
            <a:ext cx="639720" cy="2739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000" b="0" u="none" strike="noStrike">
                <a:solidFill>
                  <a:srgbClr val="AABBCC"/>
                </a:solidFill>
                <a:effectLst/>
                <a:uFillTx/>
                <a:latin typeface="Calibri"/>
              </a:rPr>
              <a:t>1</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Rectangle 1"/>
          <p:cNvSpPr/>
          <p:nvPr/>
        </p:nvSpPr>
        <p:spPr>
          <a:xfrm>
            <a:off x="0" y="0"/>
            <a:ext cx="1218852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3" name="Rectangle 2"/>
          <p:cNvSpPr/>
          <p:nvPr/>
        </p:nvSpPr>
        <p:spPr>
          <a:xfrm>
            <a:off x="0" y="0"/>
            <a:ext cx="12188520" cy="1005480"/>
          </a:xfrm>
          <a:prstGeom prst="rect">
            <a:avLst/>
          </a:prstGeom>
          <a:solidFill>
            <a:srgbClr val="1A376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4" name="Rectangle 3"/>
          <p:cNvSpPr/>
          <p:nvPr/>
        </p:nvSpPr>
        <p:spPr>
          <a:xfrm>
            <a:off x="0" y="1005840"/>
            <a:ext cx="12188520" cy="54360"/>
          </a:xfrm>
          <a:prstGeom prst="rect">
            <a:avLst/>
          </a:prstGeom>
          <a:solidFill>
            <a:srgbClr val="E86A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75" name="TextBox 4"/>
          <p:cNvSpPr/>
          <p:nvPr/>
        </p:nvSpPr>
        <p:spPr>
          <a:xfrm>
            <a:off x="365760" y="137160"/>
            <a:ext cx="11429640" cy="7768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FFFFFF"/>
                </a:solidFill>
                <a:effectLst/>
                <a:uFillTx/>
                <a:latin typeface="Calibri"/>
              </a:rPr>
              <a:t>What Is a Case Study?</a:t>
            </a:r>
            <a:endParaRPr lang="en-US" sz="2400" b="0" u="none" strike="noStrike">
              <a:solidFill>
                <a:srgbClr val="000000"/>
              </a:solidFill>
              <a:effectLst/>
              <a:uFillTx/>
              <a:latin typeface="Arial"/>
            </a:endParaRPr>
          </a:p>
        </p:txBody>
      </p:sp>
      <p:sp>
        <p:nvSpPr>
          <p:cNvPr id="76" name="TextBox 5"/>
          <p:cNvSpPr/>
          <p:nvPr/>
        </p:nvSpPr>
        <p:spPr>
          <a:xfrm>
            <a:off x="11247120" y="137160"/>
            <a:ext cx="731160" cy="45684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1" u="none" strike="noStrike">
                <a:solidFill>
                  <a:srgbClr val="CCDDFF"/>
                </a:solidFill>
                <a:effectLst/>
                <a:uFillTx/>
                <a:latin typeface="Calibri"/>
              </a:rPr>
              <a:t>2</a:t>
            </a:r>
            <a:endParaRPr lang="en-US" sz="1400" b="0" u="none" strike="noStrike">
              <a:solidFill>
                <a:srgbClr val="000000"/>
              </a:solidFill>
              <a:effectLst/>
              <a:uFillTx/>
              <a:latin typeface="Arial"/>
            </a:endParaRPr>
          </a:p>
        </p:txBody>
      </p:sp>
      <p:sp>
        <p:nvSpPr>
          <p:cNvPr id="77" name="TextBox 6"/>
          <p:cNvSpPr/>
          <p:nvPr/>
        </p:nvSpPr>
        <p:spPr>
          <a:xfrm>
            <a:off x="457200" y="1234440"/>
            <a:ext cx="11246760" cy="5120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Bef>
                <a:spcPts val="400"/>
              </a:spcBef>
              <a:spcAft>
                <a:spcPts val="400"/>
              </a:spcAft>
            </a:pPr>
            <a:r>
              <a:rPr lang="en-US" sz="1700" b="0" u="none" strike="noStrike">
                <a:solidFill>
                  <a:srgbClr val="1A1A2E"/>
                </a:solidFill>
                <a:effectLst/>
                <a:uFillTx/>
                <a:latin typeface="Calibri"/>
              </a:rPr>
              <a:t>  A detailed, realistic scenario drawn from real or simulated situations</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Learners analyze the situation and apply theoretical knowledge to solve a problem</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Focuses on complex, multi-faceted issues with no single 'correct' answer</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Bridges the gap between theory and real-world practice</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Used across business, economics, law, medicine, and vocational training</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Rectangle 1"/>
          <p:cNvSpPr/>
          <p:nvPr/>
        </p:nvSpPr>
        <p:spPr>
          <a:xfrm>
            <a:off x="0" y="0"/>
            <a:ext cx="1218852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9" name="Rectangle 2"/>
          <p:cNvSpPr/>
          <p:nvPr/>
        </p:nvSpPr>
        <p:spPr>
          <a:xfrm>
            <a:off x="0" y="0"/>
            <a:ext cx="12188520" cy="1005480"/>
          </a:xfrm>
          <a:prstGeom prst="rect">
            <a:avLst/>
          </a:prstGeom>
          <a:solidFill>
            <a:srgbClr val="1A376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0" name="Rectangle 3"/>
          <p:cNvSpPr/>
          <p:nvPr/>
        </p:nvSpPr>
        <p:spPr>
          <a:xfrm>
            <a:off x="0" y="1005840"/>
            <a:ext cx="12188520" cy="54360"/>
          </a:xfrm>
          <a:prstGeom prst="rect">
            <a:avLst/>
          </a:prstGeom>
          <a:solidFill>
            <a:srgbClr val="E86A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81" name="TextBox 4"/>
          <p:cNvSpPr/>
          <p:nvPr/>
        </p:nvSpPr>
        <p:spPr>
          <a:xfrm>
            <a:off x="365760" y="137160"/>
            <a:ext cx="11429640" cy="7768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FFFFFF"/>
                </a:solidFill>
                <a:effectLst/>
                <a:uFillTx/>
                <a:latin typeface="Calibri"/>
              </a:rPr>
              <a:t>Why Use Case Studies?</a:t>
            </a:r>
            <a:endParaRPr lang="en-US" sz="2400" b="0" u="none" strike="noStrike">
              <a:solidFill>
                <a:srgbClr val="000000"/>
              </a:solidFill>
              <a:effectLst/>
              <a:uFillTx/>
              <a:latin typeface="Arial"/>
            </a:endParaRPr>
          </a:p>
        </p:txBody>
      </p:sp>
      <p:sp>
        <p:nvSpPr>
          <p:cNvPr id="82" name="TextBox 5"/>
          <p:cNvSpPr/>
          <p:nvPr/>
        </p:nvSpPr>
        <p:spPr>
          <a:xfrm>
            <a:off x="11247120" y="137160"/>
            <a:ext cx="731160" cy="45684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1" u="none" strike="noStrike">
                <a:solidFill>
                  <a:srgbClr val="CCDDFF"/>
                </a:solidFill>
                <a:effectLst/>
                <a:uFillTx/>
                <a:latin typeface="Calibri"/>
              </a:rPr>
              <a:t>3</a:t>
            </a:r>
            <a:endParaRPr lang="en-US" sz="1400" b="0" u="none" strike="noStrike">
              <a:solidFill>
                <a:srgbClr val="000000"/>
              </a:solidFill>
              <a:effectLst/>
              <a:uFillTx/>
              <a:latin typeface="Arial"/>
            </a:endParaRPr>
          </a:p>
        </p:txBody>
      </p:sp>
      <p:sp>
        <p:nvSpPr>
          <p:cNvPr id="83" name="TextBox 6"/>
          <p:cNvSpPr/>
          <p:nvPr/>
        </p:nvSpPr>
        <p:spPr>
          <a:xfrm>
            <a:off x="457200" y="1234440"/>
            <a:ext cx="11246760" cy="5120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Bef>
                <a:spcPts val="400"/>
              </a:spcBef>
              <a:spcAft>
                <a:spcPts val="400"/>
              </a:spcAft>
            </a:pPr>
            <a:r>
              <a:rPr lang="en-US" sz="1700" b="0" u="none" strike="noStrike">
                <a:solidFill>
                  <a:srgbClr val="1A1A2E"/>
                </a:solidFill>
                <a:effectLst/>
                <a:uFillTx/>
                <a:latin typeface="Calibri"/>
              </a:rPr>
              <a:t>  Develops critical thinking, problem-solving, and decision-making skills</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Makes abstract theory concrete and relevant</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Encourages learners to consider multiple perspectives and stakeholders</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Promotes collaborative learning and peer discussion</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Prepares learners for real-world challenges in their field</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Rectangle 1"/>
          <p:cNvSpPr/>
          <p:nvPr/>
        </p:nvSpPr>
        <p:spPr>
          <a:xfrm>
            <a:off x="0" y="0"/>
            <a:ext cx="1218852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5" name="Rectangle 2"/>
          <p:cNvSpPr/>
          <p:nvPr/>
        </p:nvSpPr>
        <p:spPr>
          <a:xfrm>
            <a:off x="0" y="0"/>
            <a:ext cx="12188520" cy="1005480"/>
          </a:xfrm>
          <a:prstGeom prst="rect">
            <a:avLst/>
          </a:prstGeom>
          <a:solidFill>
            <a:srgbClr val="1A376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6" name="Rectangle 3"/>
          <p:cNvSpPr/>
          <p:nvPr/>
        </p:nvSpPr>
        <p:spPr>
          <a:xfrm>
            <a:off x="0" y="1005840"/>
            <a:ext cx="12188520" cy="54360"/>
          </a:xfrm>
          <a:prstGeom prst="rect">
            <a:avLst/>
          </a:prstGeom>
          <a:solidFill>
            <a:srgbClr val="E86A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87" name="TextBox 4"/>
          <p:cNvSpPr/>
          <p:nvPr/>
        </p:nvSpPr>
        <p:spPr>
          <a:xfrm>
            <a:off x="365760" y="137160"/>
            <a:ext cx="11429640" cy="7768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FFFFFF"/>
                </a:solidFill>
                <a:effectLst/>
                <a:uFillTx/>
                <a:latin typeface="Calibri"/>
              </a:rPr>
              <a:t>Step 1: Provide the Case</a:t>
            </a:r>
            <a:endParaRPr lang="en-US" sz="2400" b="0" u="none" strike="noStrike">
              <a:solidFill>
                <a:srgbClr val="000000"/>
              </a:solidFill>
              <a:effectLst/>
              <a:uFillTx/>
              <a:latin typeface="Arial"/>
            </a:endParaRPr>
          </a:p>
        </p:txBody>
      </p:sp>
      <p:sp>
        <p:nvSpPr>
          <p:cNvPr id="88" name="TextBox 5"/>
          <p:cNvSpPr/>
          <p:nvPr/>
        </p:nvSpPr>
        <p:spPr>
          <a:xfrm>
            <a:off x="11247120" y="137160"/>
            <a:ext cx="731160" cy="45684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1" u="none" strike="noStrike">
                <a:solidFill>
                  <a:srgbClr val="CCDDFF"/>
                </a:solidFill>
                <a:effectLst/>
                <a:uFillTx/>
                <a:latin typeface="Calibri"/>
              </a:rPr>
              <a:t>4</a:t>
            </a:r>
            <a:endParaRPr lang="en-US" sz="1400" b="0" u="none" strike="noStrike">
              <a:solidFill>
                <a:srgbClr val="000000"/>
              </a:solidFill>
              <a:effectLst/>
              <a:uFillTx/>
              <a:latin typeface="Arial"/>
            </a:endParaRPr>
          </a:p>
        </p:txBody>
      </p:sp>
      <p:sp>
        <p:nvSpPr>
          <p:cNvPr id="89" name="TextBox 6"/>
          <p:cNvSpPr/>
          <p:nvPr/>
        </p:nvSpPr>
        <p:spPr>
          <a:xfrm>
            <a:off x="457200" y="1234440"/>
            <a:ext cx="11246760" cy="5120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Bef>
                <a:spcPts val="400"/>
              </a:spcBef>
              <a:spcAft>
                <a:spcPts val="400"/>
              </a:spcAft>
            </a:pPr>
            <a:r>
              <a:rPr lang="en-US" sz="1700" b="0" u="none" strike="noStrike">
                <a:solidFill>
                  <a:srgbClr val="1A1A2E"/>
                </a:solidFill>
                <a:effectLst/>
                <a:uFillTx/>
                <a:latin typeface="Calibri"/>
              </a:rPr>
              <a:t>  Select a real-world case relevant to the topic being taught</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Sources: news articles, business reports, videos, court decisions, policy documents</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Alternatively: have learners find their own case to examine</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Case should be complex enough to require analysis — not a simple yes/no situation</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Distribute the case material before or at the start of the activity</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Rectangle 1"/>
          <p:cNvSpPr/>
          <p:nvPr/>
        </p:nvSpPr>
        <p:spPr>
          <a:xfrm>
            <a:off x="0" y="0"/>
            <a:ext cx="1218852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1" name="Rectangle 2"/>
          <p:cNvSpPr/>
          <p:nvPr/>
        </p:nvSpPr>
        <p:spPr>
          <a:xfrm>
            <a:off x="0" y="0"/>
            <a:ext cx="12188520" cy="1005480"/>
          </a:xfrm>
          <a:prstGeom prst="rect">
            <a:avLst/>
          </a:prstGeom>
          <a:solidFill>
            <a:srgbClr val="1A376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2" name="Rectangle 3"/>
          <p:cNvSpPr/>
          <p:nvPr/>
        </p:nvSpPr>
        <p:spPr>
          <a:xfrm>
            <a:off x="0" y="1005840"/>
            <a:ext cx="12188520" cy="54360"/>
          </a:xfrm>
          <a:prstGeom prst="rect">
            <a:avLst/>
          </a:prstGeom>
          <a:solidFill>
            <a:srgbClr val="E86A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93" name="TextBox 4"/>
          <p:cNvSpPr/>
          <p:nvPr/>
        </p:nvSpPr>
        <p:spPr>
          <a:xfrm>
            <a:off x="365760" y="137160"/>
            <a:ext cx="11429640" cy="7768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FFFFFF"/>
                </a:solidFill>
                <a:effectLst/>
                <a:uFillTx/>
                <a:latin typeface="Calibri"/>
              </a:rPr>
              <a:t>Step 2: Learners Analyze Using a Framework</a:t>
            </a:r>
            <a:endParaRPr lang="en-US" sz="2400" b="0" u="none" strike="noStrike">
              <a:solidFill>
                <a:srgbClr val="000000"/>
              </a:solidFill>
              <a:effectLst/>
              <a:uFillTx/>
              <a:latin typeface="Arial"/>
            </a:endParaRPr>
          </a:p>
        </p:txBody>
      </p:sp>
      <p:sp>
        <p:nvSpPr>
          <p:cNvPr id="94" name="TextBox 5"/>
          <p:cNvSpPr/>
          <p:nvPr/>
        </p:nvSpPr>
        <p:spPr>
          <a:xfrm>
            <a:off x="11247120" y="137160"/>
            <a:ext cx="731160" cy="45684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1" u="none" strike="noStrike">
                <a:solidFill>
                  <a:srgbClr val="CCDDFF"/>
                </a:solidFill>
                <a:effectLst/>
                <a:uFillTx/>
                <a:latin typeface="Calibri"/>
              </a:rPr>
              <a:t>5</a:t>
            </a:r>
            <a:endParaRPr lang="en-US" sz="1400" b="0" u="none" strike="noStrike">
              <a:solidFill>
                <a:srgbClr val="000000"/>
              </a:solidFill>
              <a:effectLst/>
              <a:uFillTx/>
              <a:latin typeface="Arial"/>
            </a:endParaRPr>
          </a:p>
        </p:txBody>
      </p:sp>
      <p:sp>
        <p:nvSpPr>
          <p:cNvPr id="95" name="TextBox 6"/>
          <p:cNvSpPr/>
          <p:nvPr/>
        </p:nvSpPr>
        <p:spPr>
          <a:xfrm>
            <a:off x="457200" y="1234440"/>
            <a:ext cx="11246760" cy="5120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Bef>
                <a:spcPts val="400"/>
              </a:spcBef>
              <a:spcAft>
                <a:spcPts val="400"/>
              </a:spcAft>
            </a:pPr>
            <a:r>
              <a:rPr lang="en-US" sz="1700" b="0" u="none" strike="noStrike">
                <a:solidFill>
                  <a:srgbClr val="1A1A2E"/>
                </a:solidFill>
                <a:effectLst/>
                <a:uFillTx/>
                <a:latin typeface="Calibri"/>
              </a:rPr>
              <a:t>  Learners work individually or in small groups (3–5 recommended)</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Provide a structured analysis framework — do not leave learners without guidance</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Framework directs learners to: identify the problem, analyze causes, consider options, recommend solutions</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Encourage learners to link their analysis to course theory and concepts</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Set a clear time limit and specific deliverables (written or verbal)</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Rectangle 1"/>
          <p:cNvSpPr/>
          <p:nvPr/>
        </p:nvSpPr>
        <p:spPr>
          <a:xfrm>
            <a:off x="0" y="0"/>
            <a:ext cx="1218852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7" name="Rectangle 2"/>
          <p:cNvSpPr/>
          <p:nvPr/>
        </p:nvSpPr>
        <p:spPr>
          <a:xfrm>
            <a:off x="0" y="0"/>
            <a:ext cx="12188520" cy="1005480"/>
          </a:xfrm>
          <a:prstGeom prst="rect">
            <a:avLst/>
          </a:prstGeom>
          <a:solidFill>
            <a:srgbClr val="1A376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8" name="Rectangle 3"/>
          <p:cNvSpPr/>
          <p:nvPr/>
        </p:nvSpPr>
        <p:spPr>
          <a:xfrm>
            <a:off x="0" y="1005840"/>
            <a:ext cx="12188520" cy="54360"/>
          </a:xfrm>
          <a:prstGeom prst="rect">
            <a:avLst/>
          </a:prstGeom>
          <a:solidFill>
            <a:srgbClr val="E86A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99" name="TextBox 4"/>
          <p:cNvSpPr/>
          <p:nvPr/>
        </p:nvSpPr>
        <p:spPr>
          <a:xfrm>
            <a:off x="365760" y="137160"/>
            <a:ext cx="11429640" cy="7768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FFFFFF"/>
                </a:solidFill>
                <a:effectLst/>
                <a:uFillTx/>
                <a:latin typeface="Calibri"/>
              </a:rPr>
              <a:t>Step 3: Learners Present or Submit Analysis</a:t>
            </a:r>
            <a:endParaRPr lang="en-US" sz="2400" b="0" u="none" strike="noStrike">
              <a:solidFill>
                <a:srgbClr val="000000"/>
              </a:solidFill>
              <a:effectLst/>
              <a:uFillTx/>
              <a:latin typeface="Arial"/>
            </a:endParaRPr>
          </a:p>
        </p:txBody>
      </p:sp>
      <p:sp>
        <p:nvSpPr>
          <p:cNvPr id="100" name="TextBox 5"/>
          <p:cNvSpPr/>
          <p:nvPr/>
        </p:nvSpPr>
        <p:spPr>
          <a:xfrm>
            <a:off x="11247120" y="137160"/>
            <a:ext cx="731160" cy="45684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1" u="none" strike="noStrike">
                <a:solidFill>
                  <a:srgbClr val="CCDDFF"/>
                </a:solidFill>
                <a:effectLst/>
                <a:uFillTx/>
                <a:latin typeface="Calibri"/>
              </a:rPr>
              <a:t>6</a:t>
            </a:r>
            <a:endParaRPr lang="en-US" sz="1400" b="0" u="none" strike="noStrike">
              <a:solidFill>
                <a:srgbClr val="000000"/>
              </a:solidFill>
              <a:effectLst/>
              <a:uFillTx/>
              <a:latin typeface="Arial"/>
            </a:endParaRPr>
          </a:p>
        </p:txBody>
      </p:sp>
      <p:sp>
        <p:nvSpPr>
          <p:cNvPr id="101" name="TextBox 6"/>
          <p:cNvSpPr/>
          <p:nvPr/>
        </p:nvSpPr>
        <p:spPr>
          <a:xfrm>
            <a:off x="457200" y="1234440"/>
            <a:ext cx="11246760" cy="5120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Bef>
                <a:spcPts val="400"/>
              </a:spcBef>
              <a:spcAft>
                <a:spcPts val="400"/>
              </a:spcAft>
            </a:pPr>
            <a:r>
              <a:rPr lang="en-US" sz="1700" b="0" u="none" strike="noStrike">
                <a:solidFill>
                  <a:srgbClr val="1A1A2E"/>
                </a:solidFill>
                <a:effectLst/>
                <a:uFillTx/>
                <a:latin typeface="Calibri"/>
              </a:rPr>
              <a:t>  Groups present their analysis to the class (2–3 minutes per group)</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Other groups listen, ask questions, and challenge recommendations</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Facilitate discussion: connect the case to concepts covered in class</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Encourage learners to respond directly to each other — not just to the trainer</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Alternatively: groups submit written answers for trainer review</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Rectangle 1"/>
          <p:cNvSpPr/>
          <p:nvPr/>
        </p:nvSpPr>
        <p:spPr>
          <a:xfrm>
            <a:off x="0" y="0"/>
            <a:ext cx="1218852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3" name="Rectangle 2"/>
          <p:cNvSpPr/>
          <p:nvPr/>
        </p:nvSpPr>
        <p:spPr>
          <a:xfrm>
            <a:off x="0" y="0"/>
            <a:ext cx="12188520" cy="1005480"/>
          </a:xfrm>
          <a:prstGeom prst="rect">
            <a:avLst/>
          </a:prstGeom>
          <a:solidFill>
            <a:srgbClr val="1A376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4" name="Rectangle 3"/>
          <p:cNvSpPr/>
          <p:nvPr/>
        </p:nvSpPr>
        <p:spPr>
          <a:xfrm>
            <a:off x="0" y="1005840"/>
            <a:ext cx="12188520" cy="54360"/>
          </a:xfrm>
          <a:prstGeom prst="rect">
            <a:avLst/>
          </a:prstGeom>
          <a:solidFill>
            <a:srgbClr val="E86A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05" name="TextBox 4"/>
          <p:cNvSpPr/>
          <p:nvPr/>
        </p:nvSpPr>
        <p:spPr>
          <a:xfrm>
            <a:off x="365760" y="137160"/>
            <a:ext cx="11429640" cy="7768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FFFFFF"/>
                </a:solidFill>
                <a:effectLst/>
                <a:uFillTx/>
                <a:latin typeface="Calibri"/>
              </a:rPr>
              <a:t>Step 4: Connect the Case to Theory</a:t>
            </a:r>
            <a:endParaRPr lang="en-US" sz="2400" b="0" u="none" strike="noStrike">
              <a:solidFill>
                <a:srgbClr val="000000"/>
              </a:solidFill>
              <a:effectLst/>
              <a:uFillTx/>
              <a:latin typeface="Arial"/>
            </a:endParaRPr>
          </a:p>
        </p:txBody>
      </p:sp>
      <p:sp>
        <p:nvSpPr>
          <p:cNvPr id="106" name="TextBox 5"/>
          <p:cNvSpPr/>
          <p:nvPr/>
        </p:nvSpPr>
        <p:spPr>
          <a:xfrm>
            <a:off x="11247120" y="137160"/>
            <a:ext cx="731160" cy="45684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1" u="none" strike="noStrike">
                <a:solidFill>
                  <a:srgbClr val="CCDDFF"/>
                </a:solidFill>
                <a:effectLst/>
                <a:uFillTx/>
                <a:latin typeface="Calibri"/>
              </a:rPr>
              <a:t>7</a:t>
            </a:r>
            <a:endParaRPr lang="en-US" sz="1400" b="0" u="none" strike="noStrike">
              <a:solidFill>
                <a:srgbClr val="000000"/>
              </a:solidFill>
              <a:effectLst/>
              <a:uFillTx/>
              <a:latin typeface="Arial"/>
            </a:endParaRPr>
          </a:p>
        </p:txBody>
      </p:sp>
      <p:sp>
        <p:nvSpPr>
          <p:cNvPr id="107" name="TextBox 6"/>
          <p:cNvSpPr/>
          <p:nvPr/>
        </p:nvSpPr>
        <p:spPr>
          <a:xfrm>
            <a:off x="457200" y="1234440"/>
            <a:ext cx="11246760" cy="5120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Bef>
                <a:spcPts val="400"/>
              </a:spcBef>
              <a:spcAft>
                <a:spcPts val="400"/>
              </a:spcAft>
            </a:pPr>
            <a:r>
              <a:rPr lang="en-US" sz="1700" b="0" u="none" strike="noStrike">
                <a:solidFill>
                  <a:srgbClr val="1A1A2E"/>
                </a:solidFill>
                <a:effectLst/>
                <a:uFillTx/>
                <a:latin typeface="Calibri"/>
              </a:rPr>
              <a:t>  After analysis, explicitly link the case to theoretical concepts from the course</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Ask: 'Which theory or model does this case illustrate? How?'</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Highlight where learners' analysis aligned with — or challenged — the theory</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Correct any misconceptions that emerged during the discussion</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Summarize the key theoretical lessons the case demonstrates</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Rectangle 1"/>
          <p:cNvSpPr/>
          <p:nvPr/>
        </p:nvSpPr>
        <p:spPr>
          <a:xfrm>
            <a:off x="0" y="0"/>
            <a:ext cx="1218852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9" name="Rectangle 2"/>
          <p:cNvSpPr/>
          <p:nvPr/>
        </p:nvSpPr>
        <p:spPr>
          <a:xfrm>
            <a:off x="0" y="0"/>
            <a:ext cx="12188520" cy="1005480"/>
          </a:xfrm>
          <a:prstGeom prst="rect">
            <a:avLst/>
          </a:prstGeom>
          <a:solidFill>
            <a:srgbClr val="1A376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0" name="Rectangle 3"/>
          <p:cNvSpPr/>
          <p:nvPr/>
        </p:nvSpPr>
        <p:spPr>
          <a:xfrm>
            <a:off x="0" y="1005840"/>
            <a:ext cx="12188520" cy="54360"/>
          </a:xfrm>
          <a:prstGeom prst="rect">
            <a:avLst/>
          </a:prstGeom>
          <a:solidFill>
            <a:srgbClr val="E86A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11" name="TextBox 4"/>
          <p:cNvSpPr/>
          <p:nvPr/>
        </p:nvSpPr>
        <p:spPr>
          <a:xfrm>
            <a:off x="365760" y="137160"/>
            <a:ext cx="11429640" cy="7768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FFFFFF"/>
                </a:solidFill>
                <a:effectLst/>
                <a:uFillTx/>
                <a:latin typeface="Calibri"/>
              </a:rPr>
              <a:t>The Case Study Analysis Framework</a:t>
            </a:r>
            <a:endParaRPr lang="en-US" sz="2400" b="0" u="none" strike="noStrike">
              <a:solidFill>
                <a:srgbClr val="000000"/>
              </a:solidFill>
              <a:effectLst/>
              <a:uFillTx/>
              <a:latin typeface="Arial"/>
            </a:endParaRPr>
          </a:p>
        </p:txBody>
      </p:sp>
      <p:sp>
        <p:nvSpPr>
          <p:cNvPr id="112" name="TextBox 5"/>
          <p:cNvSpPr/>
          <p:nvPr/>
        </p:nvSpPr>
        <p:spPr>
          <a:xfrm>
            <a:off x="11247120" y="137160"/>
            <a:ext cx="731160" cy="45684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1" u="none" strike="noStrike">
                <a:solidFill>
                  <a:srgbClr val="CCDDFF"/>
                </a:solidFill>
                <a:effectLst/>
                <a:uFillTx/>
                <a:latin typeface="Calibri"/>
              </a:rPr>
              <a:t>8</a:t>
            </a:r>
            <a:endParaRPr lang="en-US" sz="1400" b="0" u="none" strike="noStrike">
              <a:solidFill>
                <a:srgbClr val="000000"/>
              </a:solidFill>
              <a:effectLst/>
              <a:uFillTx/>
              <a:latin typeface="Arial"/>
            </a:endParaRPr>
          </a:p>
        </p:txBody>
      </p:sp>
      <p:sp>
        <p:nvSpPr>
          <p:cNvPr id="113" name="TextBox 6"/>
          <p:cNvSpPr/>
          <p:nvPr/>
        </p:nvSpPr>
        <p:spPr>
          <a:xfrm>
            <a:off x="457200" y="1234440"/>
            <a:ext cx="11246760" cy="5120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Bef>
                <a:spcPts val="400"/>
              </a:spcBef>
              <a:spcAft>
                <a:spcPts val="400"/>
              </a:spcAft>
            </a:pPr>
            <a:r>
              <a:rPr lang="en-US" sz="1700" b="0" u="none" strike="noStrike">
                <a:solidFill>
                  <a:srgbClr val="1A1A2E"/>
                </a:solidFill>
                <a:effectLst/>
                <a:uFillTx/>
                <a:latin typeface="Calibri"/>
              </a:rPr>
              <a:t>  1. SITUATION — What is the background context?</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2. PROBLEM — What is the core issue or challenge?</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3. STAKEHOLDERS — Who is affected and how?</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4. OPTIONS — What are the possible courses of action? (Pros &amp; Cons for each)</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5. RECOMMENDATION — What should be done and why?</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6. THEORY LINK — Which course concepts does this case illustrate?</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Rectangle 1"/>
          <p:cNvSpPr/>
          <p:nvPr/>
        </p:nvSpPr>
        <p:spPr>
          <a:xfrm>
            <a:off x="0" y="0"/>
            <a:ext cx="1218852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5" name="Rectangle 2"/>
          <p:cNvSpPr/>
          <p:nvPr/>
        </p:nvSpPr>
        <p:spPr>
          <a:xfrm>
            <a:off x="0" y="0"/>
            <a:ext cx="12188520" cy="1005480"/>
          </a:xfrm>
          <a:prstGeom prst="rect">
            <a:avLst/>
          </a:prstGeom>
          <a:solidFill>
            <a:srgbClr val="1A376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6" name="Rectangle 3"/>
          <p:cNvSpPr/>
          <p:nvPr/>
        </p:nvSpPr>
        <p:spPr>
          <a:xfrm>
            <a:off x="0" y="1005840"/>
            <a:ext cx="12188520" cy="54360"/>
          </a:xfrm>
          <a:prstGeom prst="rect">
            <a:avLst/>
          </a:prstGeom>
          <a:solidFill>
            <a:srgbClr val="E86A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17" name="TextBox 4"/>
          <p:cNvSpPr/>
          <p:nvPr/>
        </p:nvSpPr>
        <p:spPr>
          <a:xfrm>
            <a:off x="365760" y="137160"/>
            <a:ext cx="11429640" cy="7768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FFFFFF"/>
                </a:solidFill>
                <a:effectLst/>
                <a:uFillTx/>
                <a:latin typeface="Calibri"/>
              </a:rPr>
              <a:t>Business Case Study: The Collapse of Toys R Us</a:t>
            </a:r>
            <a:endParaRPr lang="en-US" sz="2400" b="0" u="none" strike="noStrike">
              <a:solidFill>
                <a:srgbClr val="000000"/>
              </a:solidFill>
              <a:effectLst/>
              <a:uFillTx/>
              <a:latin typeface="Arial"/>
            </a:endParaRPr>
          </a:p>
        </p:txBody>
      </p:sp>
      <p:sp>
        <p:nvSpPr>
          <p:cNvPr id="118" name="TextBox 5"/>
          <p:cNvSpPr/>
          <p:nvPr/>
        </p:nvSpPr>
        <p:spPr>
          <a:xfrm>
            <a:off x="11247120" y="137160"/>
            <a:ext cx="731160" cy="45684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1" u="none" strike="noStrike">
                <a:solidFill>
                  <a:srgbClr val="CCDDFF"/>
                </a:solidFill>
                <a:effectLst/>
                <a:uFillTx/>
                <a:latin typeface="Calibri"/>
              </a:rPr>
              <a:t>9</a:t>
            </a:r>
            <a:endParaRPr lang="en-US" sz="1400" b="0" u="none" strike="noStrike">
              <a:solidFill>
                <a:srgbClr val="000000"/>
              </a:solidFill>
              <a:effectLst/>
              <a:uFillTx/>
              <a:latin typeface="Arial"/>
            </a:endParaRPr>
          </a:p>
        </p:txBody>
      </p:sp>
      <p:sp>
        <p:nvSpPr>
          <p:cNvPr id="119" name="TextBox 6"/>
          <p:cNvSpPr/>
          <p:nvPr/>
        </p:nvSpPr>
        <p:spPr>
          <a:xfrm>
            <a:off x="457200" y="1234440"/>
            <a:ext cx="11246760" cy="5120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Bef>
                <a:spcPts val="400"/>
              </a:spcBef>
              <a:spcAft>
                <a:spcPts val="400"/>
              </a:spcAft>
            </a:pPr>
            <a:r>
              <a:rPr lang="en-US" sz="1700" b="0" u="none" strike="noStrike">
                <a:solidFill>
                  <a:srgbClr val="1A1A2E"/>
                </a:solidFill>
                <a:effectLst/>
                <a:uFillTx/>
                <a:latin typeface="Calibri"/>
              </a:rPr>
              <a:t>  Founded 1948 — once the world's largest toy retailer with 1,500+ stores globally</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2005: Private equity firms KKR &amp; Bain Capital took the company private — loaded it with $5bn+ debt</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Failed to invest in e-commerce while Amazon and Walmart dominated online toy sales</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2017: Filed for bankruptcy; 2018: liquidated all US stores — 33,000 jobs lost</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Root question: Was the collapse inevitable, or could it have been prevented?</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Rectangle 1"/>
          <p:cNvSpPr/>
          <p:nvPr/>
        </p:nvSpPr>
        <p:spPr>
          <a:xfrm>
            <a:off x="0" y="0"/>
            <a:ext cx="1218852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1" name="Rectangle 2"/>
          <p:cNvSpPr/>
          <p:nvPr/>
        </p:nvSpPr>
        <p:spPr>
          <a:xfrm>
            <a:off x="0" y="0"/>
            <a:ext cx="12188520" cy="1005480"/>
          </a:xfrm>
          <a:prstGeom prst="rect">
            <a:avLst/>
          </a:prstGeom>
          <a:solidFill>
            <a:srgbClr val="1A376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2" name="Rectangle 3"/>
          <p:cNvSpPr/>
          <p:nvPr/>
        </p:nvSpPr>
        <p:spPr>
          <a:xfrm>
            <a:off x="0" y="1005840"/>
            <a:ext cx="12188520" cy="54360"/>
          </a:xfrm>
          <a:prstGeom prst="rect">
            <a:avLst/>
          </a:prstGeom>
          <a:solidFill>
            <a:srgbClr val="E86A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23" name="TextBox 4"/>
          <p:cNvSpPr/>
          <p:nvPr/>
        </p:nvSpPr>
        <p:spPr>
          <a:xfrm>
            <a:off x="365760" y="137160"/>
            <a:ext cx="11429640" cy="7768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FFFFFF"/>
                </a:solidFill>
                <a:effectLst/>
                <a:uFillTx/>
                <a:latin typeface="Calibri"/>
              </a:rPr>
              <a:t>Applying the Framework: Toys R Us</a:t>
            </a:r>
            <a:endParaRPr lang="en-US" sz="2400" b="0" u="none" strike="noStrike">
              <a:solidFill>
                <a:srgbClr val="000000"/>
              </a:solidFill>
              <a:effectLst/>
              <a:uFillTx/>
              <a:latin typeface="Arial"/>
            </a:endParaRPr>
          </a:p>
        </p:txBody>
      </p:sp>
      <p:sp>
        <p:nvSpPr>
          <p:cNvPr id="124" name="TextBox 5"/>
          <p:cNvSpPr/>
          <p:nvPr/>
        </p:nvSpPr>
        <p:spPr>
          <a:xfrm>
            <a:off x="11247120" y="137160"/>
            <a:ext cx="731160" cy="45684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1" u="none" strike="noStrike">
                <a:solidFill>
                  <a:srgbClr val="CCDDFF"/>
                </a:solidFill>
                <a:effectLst/>
                <a:uFillTx/>
                <a:latin typeface="Calibri"/>
              </a:rPr>
              <a:t>10</a:t>
            </a:r>
            <a:endParaRPr lang="en-US" sz="1400" b="0" u="none" strike="noStrike">
              <a:solidFill>
                <a:srgbClr val="000000"/>
              </a:solidFill>
              <a:effectLst/>
              <a:uFillTx/>
              <a:latin typeface="Arial"/>
            </a:endParaRPr>
          </a:p>
        </p:txBody>
      </p:sp>
      <p:sp>
        <p:nvSpPr>
          <p:cNvPr id="125" name="TextBox 6"/>
          <p:cNvSpPr/>
          <p:nvPr/>
        </p:nvSpPr>
        <p:spPr>
          <a:xfrm>
            <a:off x="457200" y="1234440"/>
            <a:ext cx="11246760" cy="5120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Bef>
                <a:spcPts val="400"/>
              </a:spcBef>
              <a:spcAft>
                <a:spcPts val="400"/>
              </a:spcAft>
            </a:pPr>
            <a:r>
              <a:rPr lang="en-US" sz="1700" b="0" u="none" strike="noStrike">
                <a:solidFill>
                  <a:srgbClr val="1A1A2E"/>
                </a:solidFill>
                <a:effectLst/>
                <a:uFillTx/>
                <a:latin typeface="Calibri"/>
              </a:rPr>
              <a:t>  SITUATION: Global toy retailer, heavily indebted after 2005 leveraged buyout</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PROBLEM: Unable to compete with Amazon/Walmart online; debt prevented reinvestment</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STAKEHOLDERS: Shareholders, employees (33,000 jobs), suppliers, customers, creditors</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OPTIONS: (A) Aggressive digital transformation  vs  (B) Cost-cutting &amp; store optimization</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RECOMMENDATION &amp; THEORY LINK: To be determined by learner groups</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Rectangle 1"/>
          <p:cNvSpPr/>
          <p:nvPr/>
        </p:nvSpPr>
        <p:spPr>
          <a:xfrm>
            <a:off x="0" y="0"/>
            <a:ext cx="1218852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7" name="Rectangle 2"/>
          <p:cNvSpPr/>
          <p:nvPr/>
        </p:nvSpPr>
        <p:spPr>
          <a:xfrm>
            <a:off x="0" y="0"/>
            <a:ext cx="12188520" cy="1005480"/>
          </a:xfrm>
          <a:prstGeom prst="rect">
            <a:avLst/>
          </a:prstGeom>
          <a:solidFill>
            <a:srgbClr val="1A376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8" name="Rectangle 3"/>
          <p:cNvSpPr/>
          <p:nvPr/>
        </p:nvSpPr>
        <p:spPr>
          <a:xfrm>
            <a:off x="0" y="1005840"/>
            <a:ext cx="12188520" cy="54360"/>
          </a:xfrm>
          <a:prstGeom prst="rect">
            <a:avLst/>
          </a:prstGeom>
          <a:solidFill>
            <a:srgbClr val="E86A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29" name="TextBox 4"/>
          <p:cNvSpPr/>
          <p:nvPr/>
        </p:nvSpPr>
        <p:spPr>
          <a:xfrm>
            <a:off x="365760" y="137160"/>
            <a:ext cx="11429640" cy="7768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FFFFFF"/>
                </a:solidFill>
                <a:effectLst/>
                <a:uFillTx/>
                <a:latin typeface="Calibri"/>
              </a:rPr>
              <a:t>Pros &amp; Cons Analysis: Two Strategic Options</a:t>
            </a:r>
            <a:endParaRPr lang="en-US" sz="2400" b="0" u="none" strike="noStrike">
              <a:solidFill>
                <a:srgbClr val="000000"/>
              </a:solidFill>
              <a:effectLst/>
              <a:uFillTx/>
              <a:latin typeface="Arial"/>
            </a:endParaRPr>
          </a:p>
        </p:txBody>
      </p:sp>
      <p:sp>
        <p:nvSpPr>
          <p:cNvPr id="130" name="TextBox 5"/>
          <p:cNvSpPr/>
          <p:nvPr/>
        </p:nvSpPr>
        <p:spPr>
          <a:xfrm>
            <a:off x="11247120" y="137160"/>
            <a:ext cx="731160" cy="45684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1" u="none" strike="noStrike">
                <a:solidFill>
                  <a:srgbClr val="CCDDFF"/>
                </a:solidFill>
                <a:effectLst/>
                <a:uFillTx/>
                <a:latin typeface="Calibri"/>
              </a:rPr>
              <a:t>11</a:t>
            </a:r>
            <a:endParaRPr lang="en-US" sz="1400" b="0" u="none" strike="noStrike">
              <a:solidFill>
                <a:srgbClr val="000000"/>
              </a:solidFill>
              <a:effectLst/>
              <a:uFillTx/>
              <a:latin typeface="Arial"/>
            </a:endParaRPr>
          </a:p>
        </p:txBody>
      </p:sp>
      <p:sp>
        <p:nvSpPr>
          <p:cNvPr id="131" name="TextBox 6"/>
          <p:cNvSpPr/>
          <p:nvPr/>
        </p:nvSpPr>
        <p:spPr>
          <a:xfrm>
            <a:off x="457200" y="1234440"/>
            <a:ext cx="11246760" cy="5120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Bef>
                <a:spcPts val="400"/>
              </a:spcBef>
              <a:spcAft>
                <a:spcPts val="400"/>
              </a:spcAft>
            </a:pPr>
            <a:r>
              <a:rPr lang="en-US" sz="1700" b="0" u="none" strike="noStrike">
                <a:solidFill>
                  <a:srgbClr val="1A1A2E"/>
                </a:solidFill>
                <a:effectLst/>
                <a:uFillTx/>
                <a:latin typeface="Calibri"/>
              </a:rPr>
              <a:t>  OPTION A — Digital Transformation: Build e-commerce platform, partner with tech firms</a:t>
            </a:r>
            <a:endParaRPr lang="en-US" sz="1700" b="0" u="none" strike="noStrike">
              <a:solidFill>
                <a:srgbClr val="000000"/>
              </a:solidFill>
              <a:effectLst/>
              <a:uFillTx/>
              <a:latin typeface="Arial"/>
            </a:endParaRPr>
          </a:p>
          <a:p>
            <a:pPr marL="457200" defTabSz="457200">
              <a:lnSpc>
                <a:spcPct val="100000"/>
              </a:lnSpc>
              <a:spcBef>
                <a:spcPts val="400"/>
              </a:spcBef>
              <a:spcAft>
                <a:spcPts val="400"/>
              </a:spcAft>
            </a:pPr>
            <a:r>
              <a:rPr lang="en-US" sz="1500" b="0" u="none" strike="noStrike">
                <a:solidFill>
                  <a:srgbClr val="1F5C99"/>
                </a:solidFill>
                <a:effectLst/>
                <a:uFillTx/>
                <a:latin typeface="Calibri"/>
              </a:rPr>
              <a:t>    ✔ Addresses root competitive threat  ✔ Long-term growth potential</a:t>
            </a:r>
            <a:endParaRPr lang="en-US" sz="1500" b="0" u="none" strike="noStrike">
              <a:solidFill>
                <a:srgbClr val="000000"/>
              </a:solidFill>
              <a:effectLst/>
              <a:uFillTx/>
              <a:latin typeface="Arial"/>
            </a:endParaRPr>
          </a:p>
          <a:p>
            <a:pPr marL="457200" defTabSz="457200">
              <a:lnSpc>
                <a:spcPct val="100000"/>
              </a:lnSpc>
              <a:spcBef>
                <a:spcPts val="400"/>
              </a:spcBef>
              <a:spcAft>
                <a:spcPts val="400"/>
              </a:spcAft>
            </a:pPr>
            <a:r>
              <a:rPr lang="en-US" sz="1500" b="0" u="none" strike="noStrike">
                <a:solidFill>
                  <a:srgbClr val="1F5C99"/>
                </a:solidFill>
                <a:effectLst/>
                <a:uFillTx/>
                <a:latin typeface="Calibri"/>
              </a:rPr>
              <a:t>    ✗ Requires massive capital investment  ✗ Debt burden makes this nearly impossible</a:t>
            </a:r>
            <a:endParaRPr lang="en-US" sz="15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OPTION B — Cost-Cutting &amp; Store Optimization: Close underperforming stores, reduce overheads</a:t>
            </a:r>
            <a:endParaRPr lang="en-US" sz="1700" b="0" u="none" strike="noStrike">
              <a:solidFill>
                <a:srgbClr val="000000"/>
              </a:solidFill>
              <a:effectLst/>
              <a:uFillTx/>
              <a:latin typeface="Arial"/>
            </a:endParaRPr>
          </a:p>
          <a:p>
            <a:pPr marL="457200" defTabSz="457200">
              <a:lnSpc>
                <a:spcPct val="100000"/>
              </a:lnSpc>
              <a:spcBef>
                <a:spcPts val="400"/>
              </a:spcBef>
              <a:spcAft>
                <a:spcPts val="400"/>
              </a:spcAft>
            </a:pPr>
            <a:r>
              <a:rPr lang="en-US" sz="1500" b="0" u="none" strike="noStrike">
                <a:solidFill>
                  <a:srgbClr val="1F5C99"/>
                </a:solidFill>
                <a:effectLst/>
                <a:uFillTx/>
                <a:latin typeface="Calibri"/>
              </a:rPr>
              <a:t>    ✔ Frees up cash to service debt  ✗ Shrinks the business  ✗ Does not solve the digital gap</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Rectangle 1"/>
          <p:cNvSpPr/>
          <p:nvPr/>
        </p:nvSpPr>
        <p:spPr>
          <a:xfrm>
            <a:off x="0" y="0"/>
            <a:ext cx="1218852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3" name="Rectangle 2"/>
          <p:cNvSpPr/>
          <p:nvPr/>
        </p:nvSpPr>
        <p:spPr>
          <a:xfrm>
            <a:off x="0" y="0"/>
            <a:ext cx="12188520" cy="1005480"/>
          </a:xfrm>
          <a:prstGeom prst="rect">
            <a:avLst/>
          </a:prstGeom>
          <a:solidFill>
            <a:srgbClr val="1A376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4" name="Rectangle 3"/>
          <p:cNvSpPr/>
          <p:nvPr/>
        </p:nvSpPr>
        <p:spPr>
          <a:xfrm>
            <a:off x="0" y="1005840"/>
            <a:ext cx="12188520" cy="54360"/>
          </a:xfrm>
          <a:prstGeom prst="rect">
            <a:avLst/>
          </a:prstGeom>
          <a:solidFill>
            <a:srgbClr val="E86A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35" name="TextBox 4"/>
          <p:cNvSpPr/>
          <p:nvPr/>
        </p:nvSpPr>
        <p:spPr>
          <a:xfrm>
            <a:off x="365760" y="137160"/>
            <a:ext cx="11429640" cy="7768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FFFFFF"/>
                </a:solidFill>
                <a:effectLst/>
                <a:uFillTx/>
                <a:latin typeface="Calibri"/>
              </a:rPr>
              <a:t>Connecting the Case to Theory</a:t>
            </a:r>
            <a:endParaRPr lang="en-US" sz="2400" b="0" u="none" strike="noStrike">
              <a:solidFill>
                <a:srgbClr val="000000"/>
              </a:solidFill>
              <a:effectLst/>
              <a:uFillTx/>
              <a:latin typeface="Arial"/>
            </a:endParaRPr>
          </a:p>
        </p:txBody>
      </p:sp>
      <p:sp>
        <p:nvSpPr>
          <p:cNvPr id="136" name="TextBox 5"/>
          <p:cNvSpPr/>
          <p:nvPr/>
        </p:nvSpPr>
        <p:spPr>
          <a:xfrm>
            <a:off x="11247120" y="137160"/>
            <a:ext cx="731160" cy="45684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1" u="none" strike="noStrike">
                <a:solidFill>
                  <a:srgbClr val="CCDDFF"/>
                </a:solidFill>
                <a:effectLst/>
                <a:uFillTx/>
                <a:latin typeface="Calibri"/>
              </a:rPr>
              <a:t>12</a:t>
            </a:r>
            <a:endParaRPr lang="en-US" sz="1400" b="0" u="none" strike="noStrike">
              <a:solidFill>
                <a:srgbClr val="000000"/>
              </a:solidFill>
              <a:effectLst/>
              <a:uFillTx/>
              <a:latin typeface="Arial"/>
            </a:endParaRPr>
          </a:p>
        </p:txBody>
      </p:sp>
      <p:sp>
        <p:nvSpPr>
          <p:cNvPr id="137" name="TextBox 6"/>
          <p:cNvSpPr/>
          <p:nvPr/>
        </p:nvSpPr>
        <p:spPr>
          <a:xfrm>
            <a:off x="457200" y="1234440"/>
            <a:ext cx="11246760" cy="5120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Bef>
                <a:spcPts val="400"/>
              </a:spcBef>
              <a:spcAft>
                <a:spcPts val="400"/>
              </a:spcAft>
            </a:pPr>
            <a:r>
              <a:rPr lang="en-US" sz="1700" b="0" u="none" strike="noStrike">
                <a:solidFill>
                  <a:srgbClr val="1A1A2E"/>
                </a:solidFill>
                <a:effectLst/>
                <a:uFillTx/>
                <a:latin typeface="Calibri"/>
              </a:rPr>
              <a:t>  Porter's Competitive Forces: Amazon &amp; Walmart as substitute threats and competitive rivals</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Creative Destruction (Schumpeter): E-commerce disrupted and replaced traditional retail</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Market Forces — Supply &amp; Demand: Online retailers offered lower prices, shifting consumer demand</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Financial Strategy: Leveraged buyouts and the risk of debt-financed acquisitions</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Strategic Management: Failure to adapt = loss of competitive advantage</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Rectangle 1"/>
          <p:cNvSpPr/>
          <p:nvPr/>
        </p:nvSpPr>
        <p:spPr>
          <a:xfrm>
            <a:off x="0" y="0"/>
            <a:ext cx="1218852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9" name="Rectangle 2"/>
          <p:cNvSpPr/>
          <p:nvPr/>
        </p:nvSpPr>
        <p:spPr>
          <a:xfrm>
            <a:off x="0" y="0"/>
            <a:ext cx="12188520" cy="1005480"/>
          </a:xfrm>
          <a:prstGeom prst="rect">
            <a:avLst/>
          </a:prstGeom>
          <a:solidFill>
            <a:srgbClr val="1A376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0" name="Rectangle 3"/>
          <p:cNvSpPr/>
          <p:nvPr/>
        </p:nvSpPr>
        <p:spPr>
          <a:xfrm>
            <a:off x="0" y="1005840"/>
            <a:ext cx="12188520" cy="54360"/>
          </a:xfrm>
          <a:prstGeom prst="rect">
            <a:avLst/>
          </a:prstGeom>
          <a:solidFill>
            <a:srgbClr val="E86A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41" name="TextBox 4"/>
          <p:cNvSpPr/>
          <p:nvPr/>
        </p:nvSpPr>
        <p:spPr>
          <a:xfrm>
            <a:off x="365760" y="137160"/>
            <a:ext cx="11429640" cy="7768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FFFFFF"/>
                </a:solidFill>
                <a:effectLst/>
                <a:uFillTx/>
                <a:latin typeface="Calibri"/>
              </a:rPr>
              <a:t>Tips for Facilitating Case Studies</a:t>
            </a:r>
            <a:endParaRPr lang="en-US" sz="2400" b="0" u="none" strike="noStrike">
              <a:solidFill>
                <a:srgbClr val="000000"/>
              </a:solidFill>
              <a:effectLst/>
              <a:uFillTx/>
              <a:latin typeface="Arial"/>
            </a:endParaRPr>
          </a:p>
        </p:txBody>
      </p:sp>
      <p:sp>
        <p:nvSpPr>
          <p:cNvPr id="142" name="TextBox 5"/>
          <p:cNvSpPr/>
          <p:nvPr/>
        </p:nvSpPr>
        <p:spPr>
          <a:xfrm>
            <a:off x="11247120" y="137160"/>
            <a:ext cx="731160" cy="45684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1" u="none" strike="noStrike">
                <a:solidFill>
                  <a:srgbClr val="CCDDFF"/>
                </a:solidFill>
                <a:effectLst/>
                <a:uFillTx/>
                <a:latin typeface="Calibri"/>
              </a:rPr>
              <a:t>13</a:t>
            </a:r>
            <a:endParaRPr lang="en-US" sz="1400" b="0" u="none" strike="noStrike">
              <a:solidFill>
                <a:srgbClr val="000000"/>
              </a:solidFill>
              <a:effectLst/>
              <a:uFillTx/>
              <a:latin typeface="Arial"/>
            </a:endParaRPr>
          </a:p>
        </p:txBody>
      </p:sp>
      <p:sp>
        <p:nvSpPr>
          <p:cNvPr id="143" name="TextBox 6"/>
          <p:cNvSpPr/>
          <p:nvPr/>
        </p:nvSpPr>
        <p:spPr>
          <a:xfrm>
            <a:off x="457200" y="1234440"/>
            <a:ext cx="11246760" cy="5120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Bef>
                <a:spcPts val="400"/>
              </a:spcBef>
              <a:spcAft>
                <a:spcPts val="400"/>
              </a:spcAft>
            </a:pPr>
            <a:r>
              <a:rPr lang="en-US" sz="1700" b="0" u="none" strike="noStrike">
                <a:solidFill>
                  <a:srgbClr val="1A1A2E"/>
                </a:solidFill>
                <a:effectLst/>
                <a:uFillTx/>
                <a:latin typeface="Calibri"/>
              </a:rPr>
              <a:t>  Choose cases that are genuinely complex — avoid cases with obvious single answers</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Always provide a structured analysis framework — don't leave learners without guidance</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Set clear time limits and deliverables before learners begin</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During presentations, ask probing questions — don't just accept the first answer</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Always close with an explicit theory link — connect the case back to course concepts</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Rectangle 1"/>
          <p:cNvSpPr/>
          <p:nvPr/>
        </p:nvSpPr>
        <p:spPr>
          <a:xfrm>
            <a:off x="0" y="0"/>
            <a:ext cx="1218852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5" name="Rectangle 2"/>
          <p:cNvSpPr/>
          <p:nvPr/>
        </p:nvSpPr>
        <p:spPr>
          <a:xfrm>
            <a:off x="0" y="0"/>
            <a:ext cx="12188520" cy="1005480"/>
          </a:xfrm>
          <a:prstGeom prst="rect">
            <a:avLst/>
          </a:prstGeom>
          <a:solidFill>
            <a:srgbClr val="1A376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6" name="Rectangle 3"/>
          <p:cNvSpPr/>
          <p:nvPr/>
        </p:nvSpPr>
        <p:spPr>
          <a:xfrm>
            <a:off x="0" y="1005840"/>
            <a:ext cx="12188520" cy="54360"/>
          </a:xfrm>
          <a:prstGeom prst="rect">
            <a:avLst/>
          </a:prstGeom>
          <a:solidFill>
            <a:srgbClr val="E86A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47" name="TextBox 4"/>
          <p:cNvSpPr/>
          <p:nvPr/>
        </p:nvSpPr>
        <p:spPr>
          <a:xfrm>
            <a:off x="365760" y="137160"/>
            <a:ext cx="11429640" cy="7768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FFFFFF"/>
                </a:solidFill>
                <a:effectLst/>
                <a:uFillTx/>
                <a:latin typeface="Calibri"/>
              </a:rPr>
              <a:t>When to Use Case Studies</a:t>
            </a:r>
            <a:endParaRPr lang="en-US" sz="2400" b="0" u="none" strike="noStrike">
              <a:solidFill>
                <a:srgbClr val="000000"/>
              </a:solidFill>
              <a:effectLst/>
              <a:uFillTx/>
              <a:latin typeface="Arial"/>
            </a:endParaRPr>
          </a:p>
        </p:txBody>
      </p:sp>
      <p:sp>
        <p:nvSpPr>
          <p:cNvPr id="148" name="TextBox 5"/>
          <p:cNvSpPr/>
          <p:nvPr/>
        </p:nvSpPr>
        <p:spPr>
          <a:xfrm>
            <a:off x="11247120" y="137160"/>
            <a:ext cx="731160" cy="45684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1" u="none" strike="noStrike">
                <a:solidFill>
                  <a:srgbClr val="CCDDFF"/>
                </a:solidFill>
                <a:effectLst/>
                <a:uFillTx/>
                <a:latin typeface="Calibri"/>
              </a:rPr>
              <a:t>14</a:t>
            </a:r>
            <a:endParaRPr lang="en-US" sz="1400" b="0" u="none" strike="noStrike">
              <a:solidFill>
                <a:srgbClr val="000000"/>
              </a:solidFill>
              <a:effectLst/>
              <a:uFillTx/>
              <a:latin typeface="Arial"/>
            </a:endParaRPr>
          </a:p>
        </p:txBody>
      </p:sp>
      <p:sp>
        <p:nvSpPr>
          <p:cNvPr id="149" name="TextBox 6"/>
          <p:cNvSpPr/>
          <p:nvPr/>
        </p:nvSpPr>
        <p:spPr>
          <a:xfrm>
            <a:off x="457200" y="1234440"/>
            <a:ext cx="11246760" cy="5120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Bef>
                <a:spcPts val="400"/>
              </a:spcBef>
              <a:spcAft>
                <a:spcPts val="400"/>
              </a:spcAft>
            </a:pPr>
            <a:r>
              <a:rPr lang="en-US" sz="1700" b="0" u="none" strike="noStrike">
                <a:solidFill>
                  <a:srgbClr val="1A1A2E"/>
                </a:solidFill>
                <a:effectLst/>
                <a:uFillTx/>
                <a:latin typeface="Calibri"/>
              </a:rPr>
              <a:t>  BODY of the session — after foundational concepts have been introduced</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Best used when learners need to apply theory to a realistic situation</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Time required: 1 full class period (60–90 min) or extended project (multi-session)</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Not ideal for introduction — learners need prior knowledge to analyze effectively</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Can be used for session review if the case consolidates multiple concepts</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Rectangle 1"/>
          <p:cNvSpPr/>
          <p:nvPr/>
        </p:nvSpPr>
        <p:spPr>
          <a:xfrm>
            <a:off x="0" y="0"/>
            <a:ext cx="1218852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1" name="Rectangle 2"/>
          <p:cNvSpPr/>
          <p:nvPr/>
        </p:nvSpPr>
        <p:spPr>
          <a:xfrm>
            <a:off x="0" y="0"/>
            <a:ext cx="12188520" cy="1005480"/>
          </a:xfrm>
          <a:prstGeom prst="rect">
            <a:avLst/>
          </a:prstGeom>
          <a:solidFill>
            <a:srgbClr val="1A376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2" name="Rectangle 3"/>
          <p:cNvSpPr/>
          <p:nvPr/>
        </p:nvSpPr>
        <p:spPr>
          <a:xfrm>
            <a:off x="0" y="1005840"/>
            <a:ext cx="12188520" cy="54360"/>
          </a:xfrm>
          <a:prstGeom prst="rect">
            <a:avLst/>
          </a:prstGeom>
          <a:solidFill>
            <a:srgbClr val="E86A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53" name="TextBox 4"/>
          <p:cNvSpPr/>
          <p:nvPr/>
        </p:nvSpPr>
        <p:spPr>
          <a:xfrm>
            <a:off x="365760" y="137160"/>
            <a:ext cx="11429640" cy="7768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FFFFFF"/>
                </a:solidFill>
                <a:effectLst/>
                <a:uFillTx/>
                <a:latin typeface="Calibri"/>
              </a:rPr>
              <a:t>Summary &amp; Key Takeaways</a:t>
            </a:r>
            <a:endParaRPr lang="en-US" sz="2400" b="0" u="none" strike="noStrike">
              <a:solidFill>
                <a:srgbClr val="000000"/>
              </a:solidFill>
              <a:effectLst/>
              <a:uFillTx/>
              <a:latin typeface="Arial"/>
            </a:endParaRPr>
          </a:p>
        </p:txBody>
      </p:sp>
      <p:sp>
        <p:nvSpPr>
          <p:cNvPr id="154" name="TextBox 5"/>
          <p:cNvSpPr/>
          <p:nvPr/>
        </p:nvSpPr>
        <p:spPr>
          <a:xfrm>
            <a:off x="11247120" y="137160"/>
            <a:ext cx="731160" cy="45684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1" u="none" strike="noStrike">
                <a:solidFill>
                  <a:srgbClr val="CCDDFF"/>
                </a:solidFill>
                <a:effectLst/>
                <a:uFillTx/>
                <a:latin typeface="Calibri"/>
              </a:rPr>
              <a:t>15</a:t>
            </a:r>
            <a:endParaRPr lang="en-US" sz="1400" b="0" u="none" strike="noStrike">
              <a:solidFill>
                <a:srgbClr val="000000"/>
              </a:solidFill>
              <a:effectLst/>
              <a:uFillTx/>
              <a:latin typeface="Arial"/>
            </a:endParaRPr>
          </a:p>
        </p:txBody>
      </p:sp>
      <p:sp>
        <p:nvSpPr>
          <p:cNvPr id="155" name="TextBox 6"/>
          <p:cNvSpPr/>
          <p:nvPr/>
        </p:nvSpPr>
        <p:spPr>
          <a:xfrm>
            <a:off x="457200" y="1234440"/>
            <a:ext cx="11246760" cy="5120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Bef>
                <a:spcPts val="400"/>
              </a:spcBef>
              <a:spcAft>
                <a:spcPts val="400"/>
              </a:spcAft>
            </a:pPr>
            <a:r>
              <a:rPr lang="en-US" sz="1700" b="0" u="none" strike="noStrike">
                <a:solidFill>
                  <a:srgbClr val="1A1A2E"/>
                </a:solidFill>
                <a:effectLst/>
                <a:uFillTx/>
                <a:latin typeface="Calibri"/>
              </a:rPr>
              <a:t>  Case studies bridge theory and practice — making abstract concepts concrete</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Four steps: Provide the case → Analyze with a framework → Present/submit → Connect to theory</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The analysis framework is essential: Situation, Problem, Stakeholders, Options, Recommendation, Theory Link</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The Toys R Us case illustrates: competitive forces, creative destruction, financial strategy</a:t>
            </a:r>
            <a:endParaRPr lang="en-US" sz="1700" b="0" u="none" strike="noStrike">
              <a:solidFill>
                <a:srgbClr val="000000"/>
              </a:solidFill>
              <a:effectLst/>
              <a:uFillTx/>
              <a:latin typeface="Arial"/>
            </a:endParaRPr>
          </a:p>
          <a:p>
            <a:pPr defTabSz="457200">
              <a:lnSpc>
                <a:spcPct val="100000"/>
              </a:lnSpc>
              <a:spcBef>
                <a:spcPts val="400"/>
              </a:spcBef>
              <a:spcAft>
                <a:spcPts val="400"/>
              </a:spcAft>
            </a:pPr>
            <a:r>
              <a:rPr lang="en-US" sz="1700" b="0" u="none" strike="noStrike">
                <a:solidFill>
                  <a:srgbClr val="1A1A2E"/>
                </a:solidFill>
                <a:effectLst/>
                <a:uFillTx/>
                <a:latin typeface="Calibri"/>
              </a:rPr>
              <a:t>  Case studies develop the critical thinking and decision-making skills that define competence</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TotalTime>
  <Application>LibreOffice/26.2.2.2$Linux_X86_64 LibreOffice_project/620$Build-2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2026-04-17T22:46:06Z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